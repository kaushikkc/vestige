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7790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5580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1148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3371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51161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005840"/>
            <a:ext cx="2926080" cy="292608"/>
          </a:xfrm>
          <a:prstGeom prst="rect">
            <a:avLst/>
          </a:prstGeom>
          <a:solidFill>
            <a:srgbClr val="1A1A0A"/>
          </a:solidFill>
          <a:ln w="9525">
            <a:solidFill>
              <a:srgbClr val="50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0241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5F100"/>
                </a:solidFill>
                <a:latin typeface="Space Grotesk"/>
              </a:rPr>
              <a:t>SOLANA MOBILE HACKATHON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417320"/>
            <a:ext cx="777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5F100"/>
                </a:solidFill>
                <a:latin typeface="Space Grotesk"/>
              </a:rPr>
              <a:t>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14173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  <a:latin typeface="Space Grotesk"/>
              </a:rPr>
              <a:t>ESTIGE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926080"/>
            <a:ext cx="502920" cy="44450"/>
          </a:xfrm>
          <a:prstGeom prst="rect">
            <a:avLst/>
          </a:prstGeom>
          <a:solidFill>
            <a:srgbClr val="F5F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54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3B3B8"/>
                </a:solidFill>
                <a:latin typeface="Space Grotesk"/>
              </a:rPr>
              <a:t>Fair-launch token trading with an inverted bonding curve
— built natively for Solana Mobile.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251960"/>
            <a:ext cx="749808" cy="256032"/>
          </a:xfrm>
          <a:prstGeom prst="rect">
            <a:avLst/>
          </a:prstGeom>
          <a:solidFill>
            <a:srgbClr val="111216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4270248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3B3B8"/>
                </a:solidFill>
                <a:latin typeface="Space Grotesk"/>
              </a:rPr>
              <a:t>Solana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73936" y="4251960"/>
            <a:ext cx="640080" cy="256032"/>
          </a:xfrm>
          <a:prstGeom prst="rect">
            <a:avLst/>
          </a:prstGeom>
          <a:solidFill>
            <a:srgbClr val="111216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42702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3B3B8"/>
                </a:solidFill>
                <a:latin typeface="Space Grotesk"/>
              </a:rPr>
              <a:t>DeFi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23744" y="4251960"/>
            <a:ext cx="1271016" cy="256032"/>
          </a:xfrm>
          <a:prstGeom prst="rect">
            <a:avLst/>
          </a:prstGeom>
          <a:solidFill>
            <a:srgbClr val="111216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78608" y="4270248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3B3B8"/>
                </a:solidFill>
                <a:latin typeface="Space Grotesk"/>
              </a:rPr>
              <a:t>Mobile-First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04488" y="4251960"/>
            <a:ext cx="1271016" cy="256032"/>
          </a:xfrm>
          <a:prstGeom prst="rect">
            <a:avLst/>
          </a:prstGeom>
          <a:solidFill>
            <a:srgbClr val="111216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9352" y="4270248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3B3B8"/>
                </a:solidFill>
                <a:latin typeface="Space Grotesk"/>
              </a:rPr>
              <a:t>Raydium CPMM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0" y="1417320"/>
            <a:ext cx="4023360" cy="4023360"/>
          </a:xfrm>
          <a:prstGeom prst="ellipse">
            <a:avLst/>
          </a:prstGeom>
          <a:noFill/>
          <a:ln w="12700">
            <a:solidFill>
              <a:srgbClr val="35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98003" y="1900123"/>
            <a:ext cx="3057753" cy="3057753"/>
          </a:xfrm>
          <a:prstGeom prst="ellipse">
            <a:avLst/>
          </a:prstGeom>
          <a:noFill/>
          <a:ln w="12700">
            <a:solidFill>
              <a:srgbClr val="252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80806" y="2382926"/>
            <a:ext cx="2092147" cy="2092147"/>
          </a:xfrm>
          <a:prstGeom prst="ellipse">
            <a:avLst/>
          </a:prstGeom>
          <a:noFill/>
          <a:ln w="12700">
            <a:solidFill>
              <a:srgbClr val="35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7790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5580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1148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3371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51161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822960"/>
            <a:ext cx="502920" cy="44450"/>
          </a:xfrm>
          <a:prstGeom prst="rect">
            <a:avLst/>
          </a:prstGeom>
          <a:solidFill>
            <a:srgbClr val="F5F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9875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6E73"/>
                </a:solidFill>
                <a:latin typeface="Space Grotesk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258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pace Grotesk"/>
              </a:rPr>
              <a:t>Token launches are broken.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2402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3B3B8"/>
                </a:solidFill>
                <a:latin typeface="Space Grotesk"/>
              </a:rPr>
              <a:t>Insider-heavy launches, bot-driven rug pulls, and zero mobile UX
leave retail traders with no fair entry point.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154680"/>
            <a:ext cx="3200400" cy="2651760"/>
          </a:xfrm>
          <a:prstGeom prst="rect">
            <a:avLst/>
          </a:prstGeom>
          <a:solidFill>
            <a:srgbClr val="17181D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3375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F4444"/>
                </a:solidFill>
                <a:latin typeface="Space Grotesk"/>
              </a:rPr>
              <a:t>~80%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8912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3B3B8"/>
                </a:solidFill>
                <a:latin typeface="Space Grotesk"/>
              </a:rPr>
              <a:t>of meme coins abandoned
within 48 hours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154680"/>
            <a:ext cx="3200400" cy="2651760"/>
          </a:xfrm>
          <a:prstGeom prst="rect">
            <a:avLst/>
          </a:prstGeom>
          <a:solidFill>
            <a:srgbClr val="17181D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33375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9F0A"/>
                </a:solidFill>
                <a:latin typeface="Space Grotesk"/>
              </a:rPr>
              <a:t>$2B+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438912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3B3B8"/>
                </a:solidFill>
                <a:latin typeface="Space Grotesk"/>
              </a:rPr>
              <a:t>lost to rug pulls &amp;
insider dumps in 2024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3154680"/>
            <a:ext cx="3200400" cy="2651760"/>
          </a:xfrm>
          <a:prstGeom prst="rect">
            <a:avLst/>
          </a:prstGeom>
          <a:solidFill>
            <a:srgbClr val="17181D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5008" y="33375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6E6E73"/>
                </a:solidFill>
                <a:latin typeface="Space Grotesk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438912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3B3B8"/>
                </a:solidFill>
                <a:latin typeface="Space Grotesk"/>
              </a:rPr>
              <a:t>native Solana Mobile
token-launch apps exist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7790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5580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1148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3371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51161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822960"/>
            <a:ext cx="502920" cy="44450"/>
          </a:xfrm>
          <a:prstGeom prst="rect">
            <a:avLst/>
          </a:prstGeom>
          <a:solidFill>
            <a:srgbClr val="F5F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9875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6E73"/>
                </a:solidFill>
                <a:latin typeface="Space Grotesk"/>
              </a:rPr>
              <a:t>THE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25880"/>
            <a:ext cx="5669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pace Grotesk"/>
              </a:rPr>
              <a:t>An inverted bonding curve
that rewards early holders.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3B3B8"/>
                </a:solidFill>
                <a:latin typeface="Space Grotesk"/>
              </a:rPr>
              <a:t>Vestige starts tokens at their maximum price and decreases it as supply is sold — creating a built-in incentive for early participation and eliminating the insider advantage.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3B3B8"/>
                </a:solidFill>
                <a:latin typeface="Space Grotesk"/>
              </a:rPr>
              <a:t>Once the SOL graduation target is hit, the token graduates automatically to Raydium CPMM — giving it real on-chain liquidity.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914400"/>
            <a:ext cx="4572000" cy="5120640"/>
          </a:xfrm>
          <a:prstGeom prst="rect">
            <a:avLst/>
          </a:prstGeom>
          <a:solidFill>
            <a:srgbClr val="17181D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1005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pace Grotesk"/>
              </a:rPr>
              <a:t>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234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3B3B8"/>
                </a:solidFill>
                <a:latin typeface="Space Grotesk"/>
              </a:rPr>
              <a:t>↑  pMax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5303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3B3B8"/>
                </a:solidFill>
                <a:latin typeface="Space Grotesk"/>
              </a:rPr>
              <a:t>pMin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pace Grotesk"/>
              </a:rPr>
              <a:t>→ Token Supply Sold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C55E"/>
                </a:solidFill>
                <a:latin typeface="Space Grotesk"/>
              </a:rPr>
              <a:t>→ Raydium CPMM at graduation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06640" y="1417320"/>
            <a:ext cx="3657600" cy="3840480"/>
          </a:xfrm>
          <a:prstGeom prst="line">
            <a:avLst/>
          </a:prstGeom>
          <a:ln w="31750">
            <a:solidFill>
              <a:srgbClr val="F5F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7790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5580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1148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3371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51161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822960"/>
            <a:ext cx="502920" cy="44450"/>
          </a:xfrm>
          <a:prstGeom prst="rect">
            <a:avLst/>
          </a:prstGeom>
          <a:solidFill>
            <a:srgbClr val="F5F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9875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6E73"/>
                </a:solidFill>
                <a:latin typeface="Space Grotesk"/>
              </a:rPr>
              <a:t>MECHANISM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2588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pace Grotesk"/>
              </a:rPr>
              <a:t>How It Works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240280"/>
            <a:ext cx="10332720" cy="868680"/>
          </a:xfrm>
          <a:prstGeom prst="rect">
            <a:avLst/>
          </a:prstGeom>
          <a:solidFill>
            <a:srgbClr val="17181D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404872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100"/>
                </a:solidFill>
                <a:latin typeface="Space Grotesk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134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pace Grotesk"/>
              </a:rPr>
              <a:t>Creator Launches a 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670048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8"/>
                </a:solidFill>
                <a:latin typeface="Space Grotesk"/>
              </a:rPr>
              <a:t>Sets name, symbol, supply, and graduation SOL target. Token starts at pMax.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84080" y="2496312"/>
            <a:ext cx="731520" cy="292608"/>
          </a:xfrm>
          <a:prstGeom prst="rect">
            <a:avLst/>
          </a:prstGeom>
          <a:solidFill>
            <a:srgbClr val="1A1A0E"/>
          </a:solidFill>
          <a:ln w="6350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2505456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F100"/>
                </a:solidFill>
                <a:latin typeface="Space Grotesk"/>
              </a:rPr>
              <a:t>Launch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246120"/>
            <a:ext cx="10332720" cy="868680"/>
          </a:xfrm>
          <a:prstGeom prst="rect">
            <a:avLst/>
          </a:prstGeom>
          <a:solidFill>
            <a:srgbClr val="17181D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410712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100"/>
                </a:solidFill>
                <a:latin typeface="Space Grotesk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3192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pace Grotesk"/>
              </a:rPr>
              <a:t>Traders Buy &amp; Sell via Bonding Curve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675888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8"/>
                </a:solidFill>
                <a:latin typeface="Space Grotesk"/>
              </a:rPr>
              <a:t>price = pMax − (pMax − pMin) × (totalBaseSold / supply). Every buy lowers cost for next buyer.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3502152"/>
            <a:ext cx="1097280" cy="292608"/>
          </a:xfrm>
          <a:prstGeom prst="rect">
            <a:avLst/>
          </a:prstGeom>
          <a:solidFill>
            <a:srgbClr val="17181D"/>
          </a:solidFill>
          <a:ln w="6350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3511296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2C55E"/>
                </a:solidFill>
                <a:latin typeface="Space Grotesk"/>
              </a:rPr>
              <a:t>Buy / Sell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251960"/>
            <a:ext cx="10332720" cy="868680"/>
          </a:xfrm>
          <a:prstGeom prst="rect">
            <a:avLst/>
          </a:prstGeom>
          <a:solidFill>
            <a:srgbClr val="17181D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4416552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100"/>
                </a:solidFill>
                <a:latin typeface="Space Grotesk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32511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pace Grotesk"/>
              </a:rPr>
              <a:t>Live Price Feed &amp; Trade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681728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8"/>
                </a:solidFill>
                <a:latin typeface="Space Grotesk"/>
              </a:rPr>
              <a:t>Candlestick chart, bonding curve visualization, and real-time trade feed parsed from on-chain logs.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84080" y="4507992"/>
            <a:ext cx="731520" cy="292608"/>
          </a:xfrm>
          <a:prstGeom prst="rect">
            <a:avLst/>
          </a:prstGeom>
          <a:solidFill>
            <a:srgbClr val="17181D"/>
          </a:solidFill>
          <a:ln w="6350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9800" y="4517136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B3B3B8"/>
                </a:solidFill>
                <a:latin typeface="Space Grotesk"/>
              </a:rPr>
              <a:t>Charts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5257800"/>
            <a:ext cx="10332720" cy="868680"/>
          </a:xfrm>
          <a:prstGeom prst="rect">
            <a:avLst/>
          </a:prstGeom>
          <a:solidFill>
            <a:srgbClr val="17181D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" y="5422392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100"/>
                </a:solidFill>
                <a:latin typeface="Space Grotesk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33095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pace Grotesk"/>
              </a:rPr>
              <a:t>Automatic Raydium Graduation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687568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8"/>
                </a:solidFill>
                <a:latin typeface="Space Grotesk"/>
              </a:rPr>
              <a:t>When totalSolCollected ≥ graduationTarget, liquidity is seeded into Raydium CPMM automatically.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0" y="5513832"/>
            <a:ext cx="914400" cy="292608"/>
          </a:xfrm>
          <a:prstGeom prst="rect">
            <a:avLst/>
          </a:prstGeom>
          <a:solidFill>
            <a:srgbClr val="1A1A0E"/>
          </a:solidFill>
          <a:ln w="6350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46920" y="5522976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F100"/>
                </a:solidFill>
                <a:latin typeface="Space Grotesk"/>
              </a:rPr>
              <a:t>Graduate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7790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5580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1148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3371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51161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685800"/>
            <a:ext cx="502920" cy="44450"/>
          </a:xfrm>
          <a:prstGeom prst="rect">
            <a:avLst/>
          </a:prstGeom>
          <a:solidFill>
            <a:srgbClr val="F5F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850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6E73"/>
                </a:solidFill>
                <a:latin typeface="Space Grotesk"/>
              </a:rPr>
              <a:t>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1430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pace Grotesk"/>
              </a:rPr>
              <a:t>Built for traders on the 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1920240"/>
            <a:ext cx="3337560" cy="1920240"/>
          </a:xfrm>
          <a:prstGeom prst="rect">
            <a:avLst/>
          </a:prstGeom>
          <a:solidFill>
            <a:srgbClr val="17181D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8992" y="2084832"/>
            <a:ext cx="411480" cy="411480"/>
          </a:xfrm>
          <a:prstGeom prst="rect">
            <a:avLst/>
          </a:prstGeom>
          <a:solidFill>
            <a:srgbClr val="222000"/>
          </a:solidFill>
          <a:ln w="6350">
            <a:solidFill>
              <a:srgbClr val="403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" y="207568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Space Grotesk"/>
              </a:rP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25786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pace Grotesk"/>
              </a:rPr>
              <a:t>Bonding Curve Chart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29260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3B3B8"/>
                </a:solidFill>
                <a:latin typeface="Space Grotesk"/>
              </a:rPr>
              <a:t>Real-time SVG of the inverted curve with a live position dot.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1920240"/>
            <a:ext cx="3337560" cy="1920240"/>
          </a:xfrm>
          <a:prstGeom prst="rect">
            <a:avLst/>
          </a:prstGeom>
          <a:solidFill>
            <a:srgbClr val="17181D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45152" y="2084832"/>
            <a:ext cx="411480" cy="411480"/>
          </a:xfrm>
          <a:prstGeom prst="rect">
            <a:avLst/>
          </a:prstGeom>
          <a:solidFill>
            <a:srgbClr val="222000"/>
          </a:solidFill>
          <a:ln w="6350">
            <a:solidFill>
              <a:srgbClr val="403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54296" y="207568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Space Grotesk"/>
              </a:rPr>
              <a:t>🕯️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25786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pace Grotesk"/>
              </a:rPr>
              <a:t>Candlestick Charts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29260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3B3B8"/>
                </a:solidFill>
                <a:latin typeface="Space Grotesk"/>
              </a:rPr>
              <a:t>Custom OHLC candles aggregated from on-chain transaction logs.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1920240"/>
            <a:ext cx="3337560" cy="1920240"/>
          </a:xfrm>
          <a:prstGeom prst="rect">
            <a:avLst/>
          </a:prstGeom>
          <a:solidFill>
            <a:srgbClr val="17181D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11312" y="2084832"/>
            <a:ext cx="411480" cy="411480"/>
          </a:xfrm>
          <a:prstGeom prst="rect">
            <a:avLst/>
          </a:prstGeom>
          <a:solidFill>
            <a:srgbClr val="222000"/>
          </a:solidFill>
          <a:ln w="6350">
            <a:solidFill>
              <a:srgbClr val="403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0456" y="207568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Space Grotesk"/>
              </a:rPr>
              <a:t>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25786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pace Grotesk"/>
              </a:rPr>
              <a:t>Live Trade Feed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29260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3B3B8"/>
                </a:solidFill>
                <a:latin typeface="Space Grotesk"/>
              </a:rPr>
              <a:t>Buy/sell events streamed from Solana logs in real time.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069080"/>
            <a:ext cx="3337560" cy="1920240"/>
          </a:xfrm>
          <a:prstGeom prst="rect">
            <a:avLst/>
          </a:prstGeom>
          <a:solidFill>
            <a:srgbClr val="17181D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78992" y="4233672"/>
            <a:ext cx="411480" cy="411480"/>
          </a:xfrm>
          <a:prstGeom prst="rect">
            <a:avLst/>
          </a:prstGeom>
          <a:solidFill>
            <a:srgbClr val="222000"/>
          </a:solidFill>
          <a:ln w="6350">
            <a:solidFill>
              <a:srgbClr val="403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8136" y="42245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Space Grotesk"/>
              </a:rPr>
              <a:t>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7274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pace Grotesk"/>
              </a:rPr>
              <a:t>One-Tap Launch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50749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3B3B8"/>
                </a:solidFill>
                <a:latin typeface="Space Grotesk"/>
              </a:rPr>
              <a:t>Create and launch a token in seconds from a Solana Mobile device.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4069080"/>
            <a:ext cx="3337560" cy="1920240"/>
          </a:xfrm>
          <a:prstGeom prst="rect">
            <a:avLst/>
          </a:prstGeom>
          <a:solidFill>
            <a:srgbClr val="17181D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45152" y="4233672"/>
            <a:ext cx="411480" cy="411480"/>
          </a:xfrm>
          <a:prstGeom prst="rect">
            <a:avLst/>
          </a:prstGeom>
          <a:solidFill>
            <a:srgbClr val="222000"/>
          </a:solidFill>
          <a:ln w="6350">
            <a:solidFill>
              <a:srgbClr val="403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54296" y="42245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Space Grotesk"/>
              </a:rPr>
              <a:t>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45152" y="47274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pace Grotesk"/>
              </a:rPr>
              <a:t>Auto Graduation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50749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3B3B8"/>
                </a:solidFill>
                <a:latin typeface="Space Grotesk"/>
              </a:rPr>
              <a:t>Automatic Raydium CPMM seeding when the SOL target is reached.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4069080"/>
            <a:ext cx="3337560" cy="1920240"/>
          </a:xfrm>
          <a:prstGeom prst="rect">
            <a:avLst/>
          </a:prstGeom>
          <a:solidFill>
            <a:srgbClr val="17181D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11312" y="4233672"/>
            <a:ext cx="411480" cy="411480"/>
          </a:xfrm>
          <a:prstGeom prst="rect">
            <a:avLst/>
          </a:prstGeom>
          <a:solidFill>
            <a:srgbClr val="222000"/>
          </a:solidFill>
          <a:ln w="6350">
            <a:solidFill>
              <a:srgbClr val="403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0456" y="42245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Space Grotesk"/>
              </a:rPr>
              <a:t>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47274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pace Grotesk"/>
              </a:rPr>
              <a:t>Mobile-Native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1312" y="50749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3B3B8"/>
                </a:solidFill>
                <a:latin typeface="Space Grotesk"/>
              </a:rPr>
              <a:t>React Native + Solana Mobile SDK — hardware wallet signing on-device.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7790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5580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1148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3371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51161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685800"/>
            <a:ext cx="502920" cy="44450"/>
          </a:xfrm>
          <a:prstGeom prst="rect">
            <a:avLst/>
          </a:prstGeom>
          <a:solidFill>
            <a:srgbClr val="F5F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850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6E73"/>
                </a:solidFill>
                <a:latin typeface="Space Grotesk"/>
              </a:rPr>
              <a:t>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1430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pace Grotesk"/>
              </a:rPr>
              <a:t>Fully on-chain, fully mobile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1965960"/>
            <a:ext cx="5303520" cy="12700"/>
          </a:xfrm>
          <a:prstGeom prst="rect">
            <a:avLst/>
          </a:prstGeom>
          <a:solidFill>
            <a:srgbClr val="23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87451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pace Grotesk"/>
              </a:rPr>
              <a:t>On-Chain (Solana)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2551176"/>
            <a:ext cx="82296" cy="82296"/>
          </a:xfrm>
          <a:prstGeom prst="rect">
            <a:avLst/>
          </a:prstGeom>
          <a:solidFill>
            <a:srgbClr val="F5F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24231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8"/>
                </a:solidFill>
                <a:latin typeface="Space Grotesk"/>
              </a:rPr>
              <a:t>Anchor framework — Rust programs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3300984"/>
            <a:ext cx="82296" cy="82296"/>
          </a:xfrm>
          <a:prstGeom prst="rect">
            <a:avLst/>
          </a:prstGeom>
          <a:solidFill>
            <a:srgbClr val="F5F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317296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8"/>
                </a:solidFill>
                <a:latin typeface="Space Grotesk"/>
              </a:rPr>
              <a:t>Custom inverted bonding curve logic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4050792"/>
            <a:ext cx="82296" cy="82296"/>
          </a:xfrm>
          <a:prstGeom prst="rect">
            <a:avLst/>
          </a:prstGeom>
          <a:solidFill>
            <a:srgbClr val="F5F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392277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8"/>
                </a:solidFill>
                <a:latin typeface="Space Grotesk"/>
              </a:rPr>
              <a:t>Raydium CPMM graduation CPI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800599"/>
            <a:ext cx="82296" cy="82296"/>
          </a:xfrm>
          <a:prstGeom prst="rect">
            <a:avLst/>
          </a:prstGeom>
          <a:solidFill>
            <a:srgbClr val="F5F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4672583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8"/>
                </a:solidFill>
                <a:latin typeface="Space Grotesk"/>
              </a:rPr>
              <a:t>On-chain log emission for trade events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5550408"/>
            <a:ext cx="82296" cy="82296"/>
          </a:xfrm>
          <a:prstGeom prst="rect">
            <a:avLst/>
          </a:prstGeom>
          <a:solidFill>
            <a:srgbClr val="F5F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542239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8"/>
                </a:solidFill>
                <a:latin typeface="Space Grotesk"/>
              </a:rPr>
              <a:t>BN arithmetic for lamport precision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1965960"/>
            <a:ext cx="5303520" cy="12700"/>
          </a:xfrm>
          <a:prstGeom prst="rect">
            <a:avLst/>
          </a:prstGeom>
          <a:solidFill>
            <a:srgbClr val="23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87451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pace Grotesk"/>
              </a:rPr>
              <a:t>Mobile (React Native)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2551176"/>
            <a:ext cx="82296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24231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8"/>
                </a:solidFill>
                <a:latin typeface="Space Grotesk"/>
              </a:rPr>
              <a:t>Solana Mobile SDK (MWA)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0" y="3300984"/>
            <a:ext cx="82296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4848" y="317296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8"/>
                </a:solidFill>
                <a:latin typeface="Space Grotesk"/>
              </a:rPr>
              <a:t>React Native + TypeScript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4050792"/>
            <a:ext cx="82296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84848" y="392277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8"/>
                </a:solidFill>
                <a:latin typeface="Space Grotesk"/>
              </a:rPr>
              <a:t>Custom SVG candle + curve charts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29400" y="4800599"/>
            <a:ext cx="82296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84848" y="4672583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8"/>
                </a:solidFill>
                <a:latin typeface="Space Grotesk"/>
              </a:rPr>
              <a:t>Real-time log parsing &amp; candle aggregation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29400" y="5550408"/>
            <a:ext cx="82296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84848" y="542239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8"/>
                </a:solidFill>
                <a:latin typeface="Space Grotesk"/>
              </a:rPr>
              <a:t>Auto-refresh every 15 / 30 seconds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7790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5580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1148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3371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51161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685800"/>
            <a:ext cx="502920" cy="44450"/>
          </a:xfrm>
          <a:prstGeom prst="rect">
            <a:avLst/>
          </a:prstGeom>
          <a:solidFill>
            <a:srgbClr val="F5F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850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6E73"/>
                </a:solidFill>
                <a:latin typeface="Space Grotesk"/>
              </a:rPr>
              <a:t>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1430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pace Grotesk"/>
              </a:rPr>
              <a:t>A massive, underserved market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057400"/>
            <a:ext cx="3474720" cy="2651760"/>
          </a:xfrm>
          <a:prstGeom prst="rect">
            <a:avLst/>
          </a:prstGeom>
          <a:solidFill>
            <a:srgbClr val="17181D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221284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6E73"/>
                </a:solidFill>
                <a:latin typeface="Space Grotesk"/>
              </a:rPr>
              <a:t>SOLANA DEX VOLUME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54203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5F100"/>
                </a:solidFill>
                <a:latin typeface="Space Grotesk"/>
              </a:rPr>
              <a:t>$40B+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6118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8"/>
                </a:solidFill>
                <a:latin typeface="Space Grotesk"/>
              </a:rPr>
              <a:t>Monthly on-chain volume
across Solana DEXs in 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057400"/>
            <a:ext cx="3474720" cy="2651760"/>
          </a:xfrm>
          <a:prstGeom prst="rect">
            <a:avLst/>
          </a:prstGeom>
          <a:solidFill>
            <a:srgbClr val="17181D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8" y="221284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6E73"/>
                </a:solidFill>
                <a:latin typeface="Space Grotesk"/>
              </a:rPr>
              <a:t>PUMP.FUN LAUNCHES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8" y="254203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5F100"/>
                </a:solidFill>
                <a:latin typeface="Space Grotesk"/>
              </a:rPr>
              <a:t>4M+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36118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8"/>
                </a:solidFill>
                <a:latin typeface="Space Grotesk"/>
              </a:rPr>
              <a:t>Tokens launched since 2024
— demand is proven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2057400"/>
            <a:ext cx="3474720" cy="2651760"/>
          </a:xfrm>
          <a:prstGeom prst="rect">
            <a:avLst/>
          </a:prstGeom>
          <a:solidFill>
            <a:srgbClr val="17181D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13648" y="221284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6E73"/>
                </a:solidFill>
                <a:latin typeface="Space Grotesk"/>
              </a:rPr>
              <a:t>SOLANA MOBILE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254203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5F100"/>
                </a:solidFill>
                <a:latin typeface="Space Grotesk"/>
              </a:rPr>
              <a:t>~200K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36118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8"/>
                </a:solidFill>
                <a:latin typeface="Space Grotesk"/>
              </a:rPr>
              <a:t>Saga + Chapter 2 owners
— zero native launch apps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3776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3B3B8"/>
                </a:solidFill>
                <a:latin typeface="Space Grotesk"/>
              </a:rPr>
              <a:t>Vestige captures the intersection of fair-launch demand, Solana DeFi growth, and the untapped Solana Mobile ecosystem — a vertical no competitor targets natively.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7790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5580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1148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3371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51161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685800"/>
            <a:ext cx="502920" cy="44450"/>
          </a:xfrm>
          <a:prstGeom prst="rect">
            <a:avLst/>
          </a:prstGeom>
          <a:solidFill>
            <a:srgbClr val="F5F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850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6E73"/>
                </a:solidFill>
                <a:latin typeface="Space Grotesk"/>
              </a:rPr>
              <a:t>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1430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pace Grotesk"/>
              </a:rPr>
              <a:t>What's next for Vestige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011680"/>
            <a:ext cx="2606040" cy="4206240"/>
          </a:xfrm>
          <a:prstGeom prst="rect">
            <a:avLst/>
          </a:prstGeom>
          <a:solidFill>
            <a:srgbClr val="17181D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1488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  <a:latin typeface="Space Grotesk"/>
              </a:rPr>
              <a:t>✓ 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4505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pace Grotesk"/>
              </a:rPr>
              <a:t>Foundation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2907792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8"/>
                </a:solidFill>
                <a:latin typeface="Space Grotesk"/>
              </a:rPr>
              <a:t>→  Anchor bonding curve 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566160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8"/>
                </a:solidFill>
                <a:latin typeface="Space Grotesk"/>
              </a:rPr>
              <a:t>→  Mobile buy / sell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224528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8"/>
                </a:solidFill>
                <a:latin typeface="Space Grotesk"/>
              </a:rPr>
              <a:t>→  Price + candle charts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882896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8"/>
                </a:solidFill>
                <a:latin typeface="Space Grotesk"/>
              </a:rPr>
              <a:t>→  Raydium graduation CPI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39" y="2011680"/>
            <a:ext cx="2606040" cy="4206240"/>
          </a:xfrm>
          <a:prstGeom prst="rect">
            <a:avLst/>
          </a:prstGeom>
          <a:solidFill>
            <a:srgbClr val="1C1B08"/>
          </a:solidFill>
          <a:ln w="9525">
            <a:solidFill>
              <a:srgbClr val="504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13631" y="21488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F100"/>
                </a:solidFill>
                <a:latin typeface="Space Grotesk"/>
              </a:rPr>
              <a:t>▶ Now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631" y="24505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pace Grotesk"/>
              </a:rPr>
              <a:t>Hackathon MVP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13631" y="2907792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8"/>
                </a:solidFill>
                <a:latin typeface="Space Grotesk"/>
              </a:rPr>
              <a:t>→  Live trade feed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566160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8"/>
                </a:solidFill>
                <a:latin typeface="Space Grotesk"/>
              </a:rPr>
              <a:t>→  Create launch screen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3631" y="4224528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8"/>
                </a:solidFill>
                <a:latin typeface="Space Grotesk"/>
              </a:rPr>
              <a:t>→  Portfolio 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13631" y="4882896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8"/>
                </a:solidFill>
                <a:latin typeface="Space Grotesk"/>
              </a:rPr>
              <a:t>→  Mainnet beta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011680"/>
            <a:ext cx="2606040" cy="4206240"/>
          </a:xfrm>
          <a:prstGeom prst="rect">
            <a:avLst/>
          </a:prstGeom>
          <a:solidFill>
            <a:srgbClr val="17181D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21488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6E73"/>
                </a:solidFill>
                <a:latin typeface="Space Grotesk"/>
              </a:rPr>
              <a:t>Q3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24505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pace Grotesk"/>
              </a:rPr>
              <a:t>Growth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8272" y="2907792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8"/>
                </a:solidFill>
                <a:latin typeface="Space Grotesk"/>
              </a:rPr>
              <a:t>→  Creator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3566160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8"/>
                </a:solidFill>
                <a:latin typeface="Space Grotesk"/>
              </a:rPr>
              <a:t>→  Social trading feed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2" y="4224528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8"/>
                </a:solidFill>
                <a:latin typeface="Space Grotesk"/>
              </a:rPr>
              <a:t>→  Push notifications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4882896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8"/>
                </a:solidFill>
                <a:latin typeface="Space Grotesk"/>
              </a:rPr>
              <a:t>→  Token metadata CDN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18320" y="2011680"/>
            <a:ext cx="2606040" cy="4206240"/>
          </a:xfrm>
          <a:prstGeom prst="rect">
            <a:avLst/>
          </a:prstGeom>
          <a:solidFill>
            <a:srgbClr val="17181D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82912" y="21488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6E73"/>
                </a:solidFill>
                <a:latin typeface="Space Grotesk"/>
              </a:rPr>
              <a:t>Q4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82912" y="24505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pace Grotesk"/>
              </a:rPr>
              <a:t>Scale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82912" y="2907792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8"/>
                </a:solidFill>
                <a:latin typeface="Space Grotesk"/>
              </a:rPr>
              <a:t>→  Multi-chain 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2912" y="3566160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8"/>
                </a:solidFill>
                <a:latin typeface="Space Grotesk"/>
              </a:rPr>
              <a:t>→  Revenue share for creators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82912" y="4224528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8"/>
                </a:solidFill>
                <a:latin typeface="Space Grotesk"/>
              </a:rPr>
              <a:t>→  SDK for third-party launchpads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82912" y="4882896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8"/>
                </a:solidFill>
                <a:latin typeface="Space Grotesk"/>
              </a:rPr>
              <a:t>→  DAO governance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7790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5580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1148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3371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51161" y="0"/>
            <a:ext cx="6350" cy="685800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6704" y="685800"/>
            <a:ext cx="5486400" cy="5486400"/>
          </a:xfrm>
          <a:prstGeom prst="ellipse">
            <a:avLst/>
          </a:prstGeom>
          <a:solidFill>
            <a:srgbClr val="12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43016" y="777240"/>
            <a:ext cx="502920" cy="44450"/>
          </a:xfrm>
          <a:prstGeom prst="rect">
            <a:avLst/>
          </a:prstGeom>
          <a:solidFill>
            <a:srgbClr val="F5F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6E73"/>
                </a:solidFill>
                <a:latin typeface="Space Grotesk"/>
              </a:rPr>
              <a:t>SEED 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28016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0" b="1" i="0">
                <a:solidFill>
                  <a:srgbClr val="F5F100"/>
                </a:solidFill>
                <a:latin typeface="Space Grotesk"/>
              </a:rPr>
              <a:t>$500K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9718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3B3B8"/>
                </a:solidFill>
                <a:latin typeface="Space Grotesk"/>
              </a:rPr>
              <a:t>to take Vestige from hackathon MVP to the #1 fair-launch app on Solana Mobile.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3794760"/>
            <a:ext cx="2926080" cy="1508760"/>
          </a:xfrm>
          <a:prstGeom prst="rect">
            <a:avLst/>
          </a:prstGeom>
          <a:solidFill>
            <a:srgbClr val="17181D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81912" y="39136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pace Grotesk"/>
              </a:rPr>
              <a:t>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434340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3B3B8"/>
                </a:solidFill>
                <a:latin typeface="Space Grotesk"/>
              </a:rPr>
              <a:t>Engineering
2 senior Solana devs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794760"/>
            <a:ext cx="2926080" cy="1508760"/>
          </a:xfrm>
          <a:prstGeom prst="rect">
            <a:avLst/>
          </a:prstGeom>
          <a:solidFill>
            <a:srgbClr val="17181D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82312" y="39136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pace Grotesk"/>
              </a:rPr>
              <a:t>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2312" y="434340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3B3B8"/>
                </a:solidFill>
                <a:latin typeface="Space Grotesk"/>
              </a:rPr>
              <a:t>Growth &amp;
community incentives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3794760"/>
            <a:ext cx="2926080" cy="1508760"/>
          </a:xfrm>
          <a:prstGeom prst="rect">
            <a:avLst/>
          </a:prstGeom>
          <a:solidFill>
            <a:srgbClr val="17181D"/>
          </a:solidFill>
          <a:ln w="9525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2712" y="39136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pace Grotesk"/>
              </a:rPr>
              <a:t>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2712" y="434340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3B3B8"/>
                </a:solidFill>
                <a:latin typeface="Space Grotesk"/>
              </a:rPr>
              <a:t>Security audits
&amp; infrastructure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5486400"/>
            <a:ext cx="2194560" cy="274320"/>
          </a:xfrm>
          <a:prstGeom prst="rect">
            <a:avLst/>
          </a:prstGeom>
          <a:solidFill>
            <a:srgbClr val="111216"/>
          </a:solidFill>
          <a:ln w="6350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50592" y="5495544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E6E73"/>
                </a:solidFill>
                <a:latin typeface="Space Grotesk"/>
              </a:rPr>
              <a:t>vestige.app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5486400"/>
            <a:ext cx="2194560" cy="274320"/>
          </a:xfrm>
          <a:prstGeom prst="rect">
            <a:avLst/>
          </a:prstGeom>
          <a:solidFill>
            <a:srgbClr val="111216"/>
          </a:solidFill>
          <a:ln w="6350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10912" y="5495544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E6E73"/>
                </a:solidFill>
                <a:latin typeface="Space Grotesk"/>
              </a:rPr>
              <a:t>@vestige_sol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5486400"/>
            <a:ext cx="2194560" cy="274320"/>
          </a:xfrm>
          <a:prstGeom prst="rect">
            <a:avLst/>
          </a:prstGeom>
          <a:solidFill>
            <a:srgbClr val="111216"/>
          </a:solidFill>
          <a:ln w="6350">
            <a:solidFill>
              <a:srgbClr val="23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71231" y="5495544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E6E73"/>
                </a:solidFill>
                <a:latin typeface="Space Grotesk"/>
              </a:rPr>
              <a:t>team@vestige.app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